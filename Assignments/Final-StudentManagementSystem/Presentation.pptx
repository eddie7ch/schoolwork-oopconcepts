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225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88952" cy="54864"/>
          </a:xfrm>
          <a:prstGeom prst="rect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28016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C8E3"/>
                </a:solidFill>
              </a:rPr>
              <a:t>FAIRVIEW COUNTY COLLEGE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9202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Student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004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7EC8E3"/>
                </a:solidFill>
              </a:rPr>
              <a:t>OOP with C#  — 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0233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Built with .NET 8  |  C#  |  Visual Studio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4805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EC8E3"/>
                </a:solidFill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Design &amp; implement a Student Management System for Fairview County College,
applying all core OOP principles learned throughout the course.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2651760" cy="1828800"/>
          </a:xfrm>
          <a:prstGeom prst="rect">
            <a:avLst/>
          </a:prstGeom>
          <a:solidFill>
            <a:srgbClr val="222A44"/>
          </a:solidFill>
          <a:ln w="635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2194560"/>
            <a:ext cx="914400" cy="2286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6" y="2194560"/>
            <a:ext cx="896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EC8E3"/>
                </a:solidFill>
              </a:rPr>
              <a:t>Part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50591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0"/>
                </a:solidFill>
              </a:rPr>
              <a:t>Basic System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61487"/>
            <a:ext cx="24688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Core classes: Student, Instructor, SchoolClass, Department, Course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2103120"/>
            <a:ext cx="2651760" cy="1828800"/>
          </a:xfrm>
          <a:prstGeom prst="rect">
            <a:avLst/>
          </a:prstGeom>
          <a:solidFill>
            <a:srgbClr val="222A44"/>
          </a:solidFill>
          <a:ln w="635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27832" y="2194560"/>
            <a:ext cx="914400" cy="2286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36976" y="2194560"/>
            <a:ext cx="896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EC8E3"/>
                </a:solidFill>
              </a:rPr>
              <a:t>Part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450591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0"/>
                </a:solidFill>
              </a:rPr>
              <a:t>Abstraction &amp; Polymorphism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761487"/>
            <a:ext cx="24688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Abstract Person class, inheritance hierarchy, polymorphic collections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103120"/>
            <a:ext cx="2651760" cy="1828800"/>
          </a:xfrm>
          <a:prstGeom prst="rect">
            <a:avLst/>
          </a:prstGeom>
          <a:solidFill>
            <a:srgbClr val="222A44"/>
          </a:solidFill>
          <a:ln w="635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16752" y="2194560"/>
            <a:ext cx="914400" cy="2286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25896" y="2194560"/>
            <a:ext cx="896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EC8E3"/>
                </a:solidFill>
              </a:rPr>
              <a:t>Part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450591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0"/>
                </a:solidFill>
              </a:rPr>
              <a:t>Generics &amp; Delegates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761487"/>
            <a:ext cx="24688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Generic Collection&lt;T&gt;, delegate events for enrollment &amp; collection changes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32520" y="2103120"/>
            <a:ext cx="2651760" cy="1828800"/>
          </a:xfrm>
          <a:prstGeom prst="rect">
            <a:avLst/>
          </a:prstGeom>
          <a:solidFill>
            <a:srgbClr val="222A44"/>
          </a:solidFill>
          <a:ln w="635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05672" y="2194560"/>
            <a:ext cx="914400" cy="2286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14816" y="2194560"/>
            <a:ext cx="896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EC8E3"/>
                </a:solidFill>
              </a:rPr>
              <a:t>Part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2450591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0"/>
                </a:solidFill>
              </a:rPr>
              <a:t>LINQ &amp; Persistence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2761487"/>
            <a:ext cx="24688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LINQ filter/sort/group/search + CSV file-based data persistence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DBF7E"/>
                </a:solidFill>
              </a:rPr>
              <a:t>All 4 parts implemented, built successfully, and tested end-to-end.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EC8E3"/>
                </a:solidFill>
              </a:rPr>
              <a:t>Part 1 — Class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7772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EC8E3"/>
                          </a:solidFill>
                        </a:rPr>
                        <a:t>Class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EC8E3"/>
                          </a:solidFill>
                        </a:rPr>
                        <a:t>Key Attributes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EC8E3"/>
                          </a:solidFill>
                        </a:rPr>
                        <a:t>Key Methods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Student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studentID, name, age, coursesEnrolled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enrollCourse, dropCourse, displayInformation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Instructor</a:t>
                      </a:r>
                    </a:p>
                  </a:txBody>
                  <a:tcPr>
                    <a:solidFill>
                      <a:srgbClr val="16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instructorID, name, classesTaught</a:t>
                      </a:r>
                    </a:p>
                  </a:txBody>
                  <a:tcPr>
                    <a:solidFill>
                      <a:srgbClr val="16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addClass, removeClass, displayInformation</a:t>
                      </a:r>
                    </a:p>
                  </a:txBody>
                  <a:tcPr>
                    <a:solidFill>
                      <a:srgbClr val="161E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SchoolClass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classID, name, instructor, dept, course, studentIDs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addStudent, removeStudent, displayInformation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Department</a:t>
                      </a:r>
                    </a:p>
                  </a:txBody>
                  <a:tcPr>
                    <a:solidFill>
                      <a:srgbClr val="16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deptID, name, classIDs</a:t>
                      </a:r>
                    </a:p>
                  </a:txBody>
                  <a:tcPr>
                    <a:solidFill>
                      <a:srgbClr val="16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addClass, removeClass, displayInformation</a:t>
                      </a:r>
                    </a:p>
                  </a:txBody>
                  <a:tcPr>
                    <a:solidFill>
                      <a:srgbClr val="161E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Course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courseID, name, departmentID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— (data entity, Part 1)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C040"/>
                </a:solidFill>
              </a:rPr>
              <a:t>Relationships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755648"/>
            <a:ext cx="347472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Department offers many SchoolClass sections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SchoolClass belongs to one Course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Instructor assigned to one or more sections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Student enrolls in one or more Courses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All entities identified by unique string 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D700"/>
                </a:solidFill>
              </a:rPr>
              <a:t>UML Class Diagram — Full System Architecture</a:t>
            </a:r>
          </a:p>
        </p:txBody>
      </p:sp>
      <p:pic>
        <p:nvPicPr>
          <p:cNvPr id="4" name="Picture 3" descr="UML_Class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85800"/>
            <a:ext cx="886968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EC8E3"/>
                </a:solidFill>
              </a:rPr>
              <a:t>Part 2 — Abstraction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303520" cy="274320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5084064" cy="2523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9D1D9"/>
                </a:solidFill>
                <a:latin typeface="Cascadia Code"/>
              </a:rPr>
              <a:t>public abstract class Person : IIdentifiable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{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    public string ID   { get; protected set; }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    public string Name { get; set; }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    public int    Age  { get; set; }</a:t>
            </a:r>
          </a:p>
          <a:p>
            <a:endParaRPr sz="1000">
              <a:solidFill>
                <a:srgbClr val="C9D1D9"/>
              </a:solidFill>
              <a:latin typeface="Cascadia Code"/>
            </a:endParaRP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    public abstract void DisplayInformation();</a:t>
            </a:r>
          </a:p>
          <a:p>
            <a:endParaRPr sz="1000">
              <a:solidFill>
                <a:srgbClr val="C9D1D9"/>
              </a:solidFill>
              <a:latin typeface="Cascadia Code"/>
            </a:endParaRP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    public override string ToString() =&gt;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        $"{Name} (ID: {ID}, Age: {Age})";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3716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C040"/>
                </a:solidFill>
              </a:rPr>
              <a:t>Why abstract class Person?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755648"/>
            <a:ext cx="566928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Cannot be instantiated directly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Forces every subclass to implement DisplayInformation()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Shared state (ID, Name, Age) written once — no duplication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IIdentifiable enables use in generic Collection&lt;T&gt;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566160"/>
            <a:ext cx="2743200" cy="502920"/>
          </a:xfrm>
          <a:prstGeom prst="rect">
            <a:avLst/>
          </a:prstGeom>
          <a:solidFill>
            <a:srgbClr val="1A4A6E"/>
          </a:solidFill>
          <a:ln w="1905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36208" y="35844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</a:rPr>
              <a:t>«abstract»  Person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160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EC8E3"/>
                </a:solidFill>
              </a:rPr>
              <a:t>▼  inherits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4572000"/>
            <a:ext cx="1188720" cy="457200"/>
          </a:xfrm>
          <a:prstGeom prst="rect">
            <a:avLst/>
          </a:prstGeom>
          <a:solidFill>
            <a:srgbClr val="1A3A2A"/>
          </a:solidFill>
          <a:ln w="19050">
            <a:solidFill>
              <a:srgbClr val="6DB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4590288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Student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4572000"/>
            <a:ext cx="1371600" cy="457200"/>
          </a:xfrm>
          <a:prstGeom prst="rect">
            <a:avLst/>
          </a:prstGeom>
          <a:solidFill>
            <a:srgbClr val="1A3A2A"/>
          </a:solidFill>
          <a:ln w="19050">
            <a:solidFill>
              <a:srgbClr val="6DB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0" y="4590288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Instructor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EC8E3"/>
                </a:solidFill>
              </a:rPr>
              <a:t>Part 2 — Polymorphism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25603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5266944" cy="2340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9D1D9"/>
                </a:solidFill>
                <a:latin typeface="Cascadia Code"/>
              </a:rPr>
              <a:t>// A mixed list of Person objects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var people = new List&lt;Person&gt;();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people.AddRange(students);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people.AddRange(instructors);</a:t>
            </a:r>
          </a:p>
          <a:p>
            <a:endParaRPr sz="1000">
              <a:solidFill>
                <a:srgbClr val="C9D1D9"/>
              </a:solidFill>
              <a:latin typeface="Cascadia Code"/>
            </a:endParaRP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// Runtime polymorphism in action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foreach (Person p in people)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    p.DisplayInformation();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    // → correct override called automatically!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C040"/>
                </a:solidFill>
              </a:rPr>
              <a:t>What really happens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55648"/>
            <a:ext cx="5486400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Variable type is Person (base)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Runtime type is Student or Instructor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C# virtual dispatch calls the correct override — no type checks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No  if (p is Student)  needed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Adding a new person type (e.g. Admin) needs zero changes to existing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06240"/>
            <a:ext cx="11247120" cy="685800"/>
          </a:xfrm>
          <a:prstGeom prst="rect">
            <a:avLst/>
          </a:prstGeom>
          <a:solidFill>
            <a:srgbClr val="0A1A0A"/>
          </a:solidFill>
          <a:ln w="9525">
            <a:solidFill>
              <a:srgbClr val="6DB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42793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DBF7E"/>
                </a:solidFill>
              </a:rPr>
              <a:t>✔  Open/Closed Principle: open for extension, closed for modification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20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EC8E3"/>
                </a:solidFill>
              </a:rPr>
              <a:t>Part 3 — Generic Collection&lt;T&gt; &amp; Delegates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303520" cy="25603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5084064" cy="2340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9D1D9"/>
                </a:solidFill>
                <a:latin typeface="Cascadia Code"/>
              </a:rPr>
              <a:t>public class Collection&lt;T&gt;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    where T : IIdentifiable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{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    public void   Add(T item)                    { ... }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    public bool   Remove(string id)              { ... }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    public T?     FindByID(string id)            { ... }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    public List&lt;T&gt; Search(Func&lt;T,bool&gt; pred)     { ... }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    public IReadOnlyList&lt;T&gt; GetAll()             { ... }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3716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C040"/>
                </a:solidFill>
              </a:rPr>
              <a:t>Why generics?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755648"/>
            <a:ext cx="57607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One class replaces 5 near-identical collection classes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Works for Student, Instructor, Course, SchoolClass, Department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IIdentifiable gives Collection&lt;T&gt; a guaranteed ID to work with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32004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C040"/>
                </a:solidFill>
              </a:rPr>
              <a:t>Delegates &amp;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584448"/>
            <a:ext cx="576072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OnCollectionChanged — fires on Add / Remove in any collection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OnEnrollmentChanged — fires when student enrolls or drops a course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Subscribers use +=  (loose coupling, Observer pattern)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No tight dependency — Student doesn't know who is listening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EC8E3"/>
                </a:solidFill>
              </a:rPr>
              <a:t>Part 4 — LINQ Queries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5943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EC8E3"/>
                          </a:solidFill>
                        </a:rPr>
                        <a:t>Operation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EC8E3"/>
                          </a:solidFill>
                        </a:rPr>
                        <a:t>LINQ Method(s)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EC8E3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Filter by age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Where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Students older than 20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Filter by course</a:t>
                      </a:r>
                    </a:p>
                  </a:txBody>
                  <a:tcPr>
                    <a:solidFill>
                      <a:srgbClr val="16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Where + Contains</a:t>
                      </a:r>
                    </a:p>
                  </a:txBody>
                  <a:tcPr>
                    <a:solidFill>
                      <a:srgbClr val="16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Enrolled in 'OOP'</a:t>
                      </a:r>
                    </a:p>
                  </a:txBody>
                  <a:tcPr>
                    <a:solidFill>
                      <a:srgbClr val="161E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Sort by name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OrderBy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A → Z alphabetically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Sort by age</a:t>
                      </a:r>
                    </a:p>
                  </a:txBody>
                  <a:tcPr>
                    <a:solidFill>
                      <a:srgbClr val="16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OrderBy</a:t>
                      </a:r>
                    </a:p>
                  </a:txBody>
                  <a:tcPr>
                    <a:solidFill>
                      <a:srgbClr val="16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Youngest first</a:t>
                      </a:r>
                    </a:p>
                  </a:txBody>
                  <a:tcPr>
                    <a:solidFill>
                      <a:srgbClr val="161E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Group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GroupBy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By number of courses enrolled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Search</a:t>
                      </a:r>
                    </a:p>
                  </a:txBody>
                  <a:tcPr>
                    <a:solidFill>
                      <a:srgbClr val="16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Where + Contains</a:t>
                      </a:r>
                    </a:p>
                  </a:txBody>
                  <a:tcPr>
                    <a:solidFill>
                      <a:srgbClr val="16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Name contains 'o'</a:t>
                      </a:r>
                    </a:p>
                  </a:txBody>
                  <a:tcPr>
                    <a:solidFill>
                      <a:srgbClr val="161E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Filter courses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Where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CCCC"/>
                          </a:solidFill>
                        </a:rPr>
                        <a:t>Courses in 'CS' department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583680" y="1371600"/>
            <a:ext cx="5212080" cy="365760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93408" y="1481328"/>
            <a:ext cx="4992624" cy="3438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9D1D9"/>
                </a:solidFill>
                <a:latin typeface="Cascadia Code"/>
              </a:rPr>
              <a:t>// Group students by course count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var groups = Students.GetAll()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    .GroupBy(s =&gt; s.CoursesEnrolled.Count);</a:t>
            </a:r>
          </a:p>
          <a:p>
            <a:endParaRPr sz="1000">
              <a:solidFill>
                <a:srgbClr val="C9D1D9"/>
              </a:solidFill>
              <a:latin typeface="Cascadia Code"/>
            </a:endParaRP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foreach (var g in groups)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    Console.WriteLine(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        $"[{g.Key} course(s)]: " +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        string.Join(", ", g.Select(s =&gt; s.Name)));</a:t>
            </a:r>
          </a:p>
          <a:p>
            <a:endParaRPr sz="1000">
              <a:solidFill>
                <a:srgbClr val="C9D1D9"/>
              </a:solidFill>
              <a:latin typeface="Cascadia Code"/>
            </a:endParaRP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// Output: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// [2 course(s)]: Emma Davis, Liam Park, Olivia Brown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// [0 course(s)]: Sofia Patel, Noah Kim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EC8E3"/>
                </a:solidFill>
              </a:rPr>
              <a:t>Part 4 — Data Persistence (CSV Files)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Students saved to students.csv, instructors to instructors.csv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CSV = human-readable, no database server needed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Header row + one row per record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Multiple courses stored as pipe-separated values  ( | 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Data fully reloaded from file into a fresh DataRepository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069080"/>
            <a:ext cx="5029200" cy="182880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4178808"/>
            <a:ext cx="4809744" cy="1609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9D1D9"/>
                </a:solidFill>
                <a:latin typeface="Cascadia Code"/>
              </a:rPr>
              <a:t>StudentID,Name,Age,CoursesEnrolled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S001,Emma Davis,20,OOP|Database Systems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S002,Liam Park,22,OOP|Calculus I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S003,Sofia Patel,19,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S004,Noah Kim,24,Database Systems</a:t>
            </a:r>
          </a:p>
          <a:p>
            <a:r>
              <a:rPr sz="1000">
                <a:solidFill>
                  <a:srgbClr val="C9D1D9"/>
                </a:solidFill>
                <a:latin typeface="Cascadia Code"/>
              </a:rPr>
              <a:t>S005,Olivia Brown,21,OOP|Calculus I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1325880"/>
            <a:ext cx="5943600" cy="1143000"/>
          </a:xfrm>
          <a:prstGeom prst="rect">
            <a:avLst/>
          </a:prstGeom>
          <a:solidFill>
            <a:srgbClr val="1A2238"/>
          </a:solidFill>
          <a:ln w="635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33872" y="1417320"/>
            <a:ext cx="914400" cy="2286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43016" y="1417320"/>
            <a:ext cx="896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EC8E3"/>
                </a:solidFill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9" y="167335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0"/>
                </a:solidFill>
              </a:rPr>
              <a:t>1. SaveStudentsToFile()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59" y="1984248"/>
            <a:ext cx="57607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Iterates Collection&lt;Student&gt;, writes CSV lines with File.WriteAllLines()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2560320"/>
            <a:ext cx="5943600" cy="1143000"/>
          </a:xfrm>
          <a:prstGeom prst="rect">
            <a:avLst/>
          </a:prstGeom>
          <a:solidFill>
            <a:srgbClr val="1A2238"/>
          </a:solidFill>
          <a:ln w="635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33872" y="2651760"/>
            <a:ext cx="914400" cy="2286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43016" y="2651760"/>
            <a:ext cx="896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EC8E3"/>
                </a:solidFill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59" y="2907791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0"/>
                </a:solidFill>
              </a:rPr>
              <a:t>2. students.csv on disk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59" y="3218687"/>
            <a:ext cx="57607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Plain text — verifiable in Excel or Notepad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3794760"/>
            <a:ext cx="5943600" cy="1143000"/>
          </a:xfrm>
          <a:prstGeom prst="rect">
            <a:avLst/>
          </a:prstGeom>
          <a:solidFill>
            <a:srgbClr val="1A2238"/>
          </a:solidFill>
          <a:ln w="635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33872" y="3886200"/>
            <a:ext cx="914400" cy="2286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43016" y="3886200"/>
            <a:ext cx="896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EC8E3"/>
                </a:solidFill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59" y="414223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0"/>
                </a:solidFill>
              </a:rPr>
              <a:t>3. LoadStudentsFromFile()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59" y="4453128"/>
            <a:ext cx="57607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Reads CSV, skips header, reconstructs Student objects + courses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5029200"/>
            <a:ext cx="5943600" cy="1143000"/>
          </a:xfrm>
          <a:prstGeom prst="rect">
            <a:avLst/>
          </a:prstGeom>
          <a:solidFill>
            <a:srgbClr val="1A2238"/>
          </a:solidFill>
          <a:ln w="635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33872" y="5120640"/>
            <a:ext cx="914400" cy="2286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43016" y="5120640"/>
            <a:ext cx="896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EC8E3"/>
                </a:solidFill>
              </a:rP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59" y="537667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0"/>
                </a:solidFill>
              </a:rPr>
              <a:t>4. Fresh DataRepository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59" y="5687568"/>
            <a:ext cx="57607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Identical state restored — names, ages, all enrolled courses intact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EC8E3"/>
                </a:solidFill>
              </a:rPr>
              <a:t>OOP Principles — Applied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577840" cy="1920240"/>
          </a:xfrm>
          <a:prstGeom prst="rect">
            <a:avLst/>
          </a:prstGeom>
          <a:solidFill>
            <a:srgbClr val="221434"/>
          </a:solidFill>
          <a:ln w="635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1463040"/>
            <a:ext cx="914400" cy="2286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8056" y="1463040"/>
            <a:ext cx="896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EC8E3"/>
                </a:solidFill>
              </a:rPr>
              <a:t>Encapsulation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0"/>
                </a:solidFill>
              </a:rPr>
              <a:t>Data is protected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29967"/>
            <a:ext cx="53949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CoursesEnrolled is a private list — external code must call EnrollCourse() or DropCourse(). ID has a protected setter, set once at construction.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577840" cy="1920240"/>
          </a:xfrm>
          <a:prstGeom prst="rect">
            <a:avLst/>
          </a:prstGeom>
          <a:solidFill>
            <a:srgbClr val="221434"/>
          </a:solidFill>
          <a:ln w="635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82512" y="1463040"/>
            <a:ext cx="914400" cy="2286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91656" y="1463040"/>
            <a:ext cx="896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EC8E3"/>
                </a:solidFill>
              </a:rPr>
              <a:t>Inheritance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19072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0"/>
                </a:solidFill>
              </a:rPr>
              <a:t>Shared code lives once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29967"/>
            <a:ext cx="53949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Student and Instructor inherit ID, Name, Age, and ToString() from Person. Zero duplication. New person types extend automatically.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74720"/>
            <a:ext cx="5577840" cy="1920240"/>
          </a:xfrm>
          <a:prstGeom prst="rect">
            <a:avLst/>
          </a:prstGeom>
          <a:solidFill>
            <a:srgbClr val="221434"/>
          </a:solidFill>
          <a:ln w="635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" y="3566160"/>
            <a:ext cx="914400" cy="2286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" y="3566160"/>
            <a:ext cx="896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EC8E3"/>
                </a:solidFill>
              </a:rPr>
              <a:t>Abstraction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22191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0"/>
                </a:solidFill>
              </a:rPr>
              <a:t>Hide complexity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33087"/>
            <a:ext cx="53949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Person is abstract — callers work against the Person type without knowing if it's a Student or Instructor. IIdentifiable gives Collection&lt;T&gt; a minimal contract.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474720"/>
            <a:ext cx="5577840" cy="1920240"/>
          </a:xfrm>
          <a:prstGeom prst="rect">
            <a:avLst/>
          </a:prstGeom>
          <a:solidFill>
            <a:srgbClr val="221434"/>
          </a:solidFill>
          <a:ln w="635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82512" y="3566160"/>
            <a:ext cx="914400" cy="2286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91656" y="3566160"/>
            <a:ext cx="896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EC8E3"/>
                </a:solidFill>
              </a:rPr>
              <a:t>Polymorphism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22191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40"/>
                </a:solidFill>
              </a:rPr>
              <a:t>One call, many behaviours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33087"/>
            <a:ext cx="53949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 List&lt;Person&gt; holds both types. p.DisplayInformation() dispatches correctly at runtime. Collection&lt;T&gt; works for any IIdentifiable type.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EC8E3"/>
                </a:solidFill>
              </a:rPr>
              <a:t>Lessons Learned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C040"/>
                </a:solidFill>
              </a:rPr>
              <a:t>Key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55648"/>
            <a:ext cx="548640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Start with abstraction — defining Person early eliminated duplication from day one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Generics eliminate boilerplate — one Collection&lt;T&gt; replaced five near-identical classes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Events decouple components — Student doesn't need to know who listens to its events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LINQ improves readability — one-line Where/OrderBy/GroupBy replaces manual loops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CCCC"/>
                </a:solidFill>
              </a:rPr>
              <a:t>▶  Separate entities from logic — DataRepository can grow without touching model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C040"/>
                </a:solidFill>
              </a:rPr>
              <a:t>What was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CCCCCC"/>
                </a:solidFill>
              </a:rPr>
              <a:t>✅  5 model classes + abstract Person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CCCCCC"/>
                </a:solidFill>
              </a:rPr>
              <a:t>✅  IIdentifiable interface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CCCCCC"/>
                </a:solidFill>
              </a:rPr>
              <a:t>✅  Generic Collection&lt;T&gt; with delegate events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CCCCCC"/>
                </a:solidFill>
              </a:rPr>
              <a:t>✅  DataRepository with 7 LINQ queries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CCCCCC"/>
                </a:solidFill>
              </a:rPr>
              <a:t>✅  CSV save &amp; load persistence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CCCCCC"/>
                </a:solidFill>
              </a:rPr>
              <a:t>✅  Full demo in Program.cs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CCCCCC"/>
                </a:solidFill>
              </a:rPr>
              <a:t>✅  Build succeeded, all output verified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852160"/>
            <a:ext cx="11274552" cy="685800"/>
          </a:xfrm>
          <a:prstGeom prst="rect">
            <a:avLst/>
          </a:prstGeom>
          <a:solidFill>
            <a:srgbClr val="0A1E36"/>
          </a:solidFill>
          <a:ln w="1270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5897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EC8E3"/>
                </a:solidFill>
              </a:rPr>
              <a:t>Thank You!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1304</Words>
  <Application>Microsoft Office PowerPoint</Application>
  <PresentationFormat>Custom</PresentationFormat>
  <Paragraphs>203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Eddie Chongtham</cp:lastModifiedBy>
  <cp:revision>2</cp:revision>
  <dcterms:created xsi:type="dcterms:W3CDTF">2013-01-27T09:14:16Z</dcterms:created>
  <dcterms:modified xsi:type="dcterms:W3CDTF">2026-03-08T06:05:50Z</dcterms:modified>
  <cp:category/>
</cp:coreProperties>
</file>